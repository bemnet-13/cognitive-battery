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40580" y="1463040"/>
            <a:ext cx="548640" cy="548640"/>
          </a:xfrm>
          <a:prstGeom prst="rect">
            <a:avLst/>
          </a:prstGeom>
          <a:solidFill>
            <a:srgbClr val="2A3E66"/>
          </a:solidFill>
          <a:ln w="12700">
            <a:solidFill>
              <a:srgbClr val="2A3E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17820" y="1463040"/>
            <a:ext cx="54864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95060" y="1463040"/>
            <a:ext cx="548640" cy="5486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72300" y="1463040"/>
            <a:ext cx="548640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400" dirty="0">
                <a:solidFill>
                  <a:srgbClr val="C4BF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COGNITIVE SCIENCE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i="1" dirty="0">
                <a:solidFill>
                  <a:srgbClr val="F5F1E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Mapping Working Memory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BF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four-task browser-based battery for working memory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C4BF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executive function.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1F1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Working memory isn't one thing.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064240" y="594360"/>
            <a:ext cx="201168" cy="2011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94360"/>
            <a:ext cx="201168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0" y="594360"/>
            <a:ext cx="201168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0" y="594360"/>
            <a:ext cx="201168" cy="2011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A2B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It's a system.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Verbal information needs different storage than spatial information. Holding a sequence in mind is different from manipulating it. Suppressing a habitual response is different again.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65176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test gives you one number. That number is easy to misinterpret. Four tasks, chosen to isolate distinct components, give you a profile — and a profile is what the theory actually predicts.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54864" cy="9144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029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A75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goal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5349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single browser-based session that measures four distinct components of working memory and executive function, and exports trial-level data for analysis.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Working Memory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1F1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Baddeley's working memory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slave systems coordinated by a central executive — plus inhibition as a fourth dimension.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064240" y="594360"/>
            <a:ext cx="201168" cy="2011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594360"/>
            <a:ext cx="201168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94360"/>
            <a:ext cx="201168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0" y="594360"/>
            <a:ext cx="201168" cy="2011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1737360"/>
            <a:ext cx="2926080" cy="822960"/>
          </a:xfrm>
          <a:prstGeom prst="rect">
            <a:avLst/>
          </a:prstGeom>
          <a:solidFill>
            <a:srgbClr val="F5ECDB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A751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Central executive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1945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Updating, attention control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291840"/>
            <a:ext cx="2926080" cy="1280160"/>
          </a:xfrm>
          <a:prstGeom prst="rect">
            <a:avLst/>
          </a:prstGeom>
          <a:solidFill>
            <a:srgbClr val="E8ECF2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74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2B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Phonological loop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Verbal &amp; acoustic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3291840"/>
            <a:ext cx="2926080" cy="1280160"/>
          </a:xfrm>
          <a:prstGeom prst="rect">
            <a:avLst/>
          </a:prstGeom>
          <a:solidFill>
            <a:srgbClr val="E3EFEB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474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F6E5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Visuospatial sketchpad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3931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&amp; spatial storage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3291840"/>
            <a:ext cx="2926080" cy="1280160"/>
          </a:xfrm>
          <a:prstGeom prst="rect">
            <a:avLst/>
          </a:prstGeom>
          <a:solidFill>
            <a:srgbClr val="F4E5E1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474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850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Inhibitory control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3931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Suppressing prepotent responses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9600000">
            <a:off x="2286000" y="2560320"/>
            <a:ext cx="3794760" cy="731520"/>
          </a:xfrm>
          <a:prstGeom prst="line">
            <a:avLst/>
          </a:prstGeom>
          <a:noFill/>
          <a:ln w="12700">
            <a:solidFill>
              <a:srgbClr val="E0DCD3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080760" y="2560320"/>
            <a:ext cx="0" cy="731520"/>
          </a:xfrm>
          <a:prstGeom prst="line">
            <a:avLst/>
          </a:prstGeom>
          <a:noFill/>
          <a:ln w="12700">
            <a:solidFill>
              <a:srgbClr val="E0DCD3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080760" y="2560320"/>
            <a:ext cx="3794760" cy="731520"/>
          </a:xfrm>
          <a:prstGeom prst="line">
            <a:avLst/>
          </a:prstGeom>
          <a:noFill/>
          <a:ln w="12700">
            <a:solidFill>
              <a:srgbClr val="E0DCD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40080" y="512064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Baddeley &amp; Hitch (1974); inhibition added per Miyake et al. (2000).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Working Memory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1F1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Four tasks, four components.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task per WM dimension. Together they cover the full theoretical frame.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064240" y="594360"/>
            <a:ext cx="201168" cy="2011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594360"/>
            <a:ext cx="201168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94360"/>
            <a:ext cx="201168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0" y="594360"/>
            <a:ext cx="201168" cy="2011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5166360" cy="210312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73152" cy="2103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11680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A2B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Digit Span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4709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Phonological loop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4709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42900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Forward &amp; backward span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1783080"/>
            <a:ext cx="5166360" cy="2103120"/>
          </a:xfrm>
          <a:prstGeom prst="rect">
            <a:avLst/>
          </a:prstGeom>
          <a:solidFill>
            <a:srgbClr val="E3EFEB"/>
          </a:solidFill>
          <a:ln w="12700">
            <a:solidFill>
              <a:srgbClr val="E3EF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783080"/>
            <a:ext cx="73152" cy="21031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011680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F6E5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Corsi Block-Tapping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29400" y="2606040"/>
            <a:ext cx="4709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9400" y="28346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Visuospatial sketchpad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3200400"/>
            <a:ext cx="4709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29400" y="342900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Forward &amp; backward span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5166360" cy="2103120"/>
          </a:xfrm>
          <a:prstGeom prst="rect">
            <a:avLst/>
          </a:prstGeom>
          <a:solidFill>
            <a:srgbClr val="F5ECDB"/>
          </a:solidFill>
          <a:ln w="12700">
            <a:solidFill>
              <a:srgbClr val="F5EC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114800"/>
            <a:ext cx="73152" cy="2103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43400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A751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N-Back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4937760"/>
            <a:ext cx="4709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A75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516636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executive · updating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5532120"/>
            <a:ext cx="4709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A75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OUTPUT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57607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Accuracy, d′, RT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55080" y="4114800"/>
            <a:ext cx="5166360" cy="2103120"/>
          </a:xfrm>
          <a:prstGeom prst="rect">
            <a:avLst/>
          </a:prstGeom>
          <a:solidFill>
            <a:srgbClr val="F4E5E1"/>
          </a:solidFill>
          <a:ln w="12700">
            <a:solidFill>
              <a:srgbClr val="F4E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4114800"/>
            <a:ext cx="73152" cy="2103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343400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850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Stroop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29400" y="4937760"/>
            <a:ext cx="4709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29400" y="516636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Inhibitory control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29400" y="5532120"/>
            <a:ext cx="4709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OUTPUT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9400" y="57607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Interference score (ms)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Working Memory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1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Digit Span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Wechsler (2008), based on Baddeley &amp; Hitch (1974). WAIS-IV scoring conventions.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PARTICIPANT DOES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56692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Digits appear one at a time on the screen. The participant types them back — in the same order (forward) or in reverse order (backward). Sequence length grows until they fail both trials at the same length.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5020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MEASURES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4242816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Phonological loop capacity (forward). Phonological loop + executive manipulation (backward). The forward–backward gap is itself informative.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24865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 DV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5541264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Span = longest length with ≥ 1 of 2 trials correct.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194560"/>
            <a:ext cx="4846320" cy="393192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37744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TRIAL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97496" y="3474720"/>
            <a:ext cx="548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97496" y="34747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110728" y="3474720"/>
            <a:ext cx="548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34747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823960" y="3474720"/>
            <a:ext cx="548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34747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9537192" y="3474720"/>
            <a:ext cx="548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37192" y="34747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0250424" y="3474720"/>
            <a:ext cx="548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50424" y="34747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49440" y="43891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750 ms per digit · 300 ms inter-stimulus interval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475488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Recall: "4 9 2 7 5"  (forward)   or   "5 7 2 9 4"  (backward)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5303520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STAIRCASE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49440" y="55321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Length 3 → 4 → 5 → 6 → 7 ...    Stop at two failures at one length.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Working Memory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2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Corsi Block-Tapping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Corsi (1972); Milner (1971); Kessels et al. (2000) for standardised scoring.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PARTICIPANT DOES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56692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Nine blocks sit in irregular positions on a board. They light up one at a time in a sequence (e.g. block 4, then 7, then 2). The participant clicks the same blocks back in the same order. Sequence length grows by the same staircase logic as digit span.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5020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MEASURES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4242816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Visuospatial sketchpad. The visual analogue of digit span — same logic, different modality.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24865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 DV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5541264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Corsi span (Kessels total score for added detail).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194560"/>
            <a:ext cx="4846320" cy="3931920"/>
          </a:xfrm>
          <a:prstGeom prst="rect">
            <a:avLst/>
          </a:prstGeom>
          <a:solidFill>
            <a:srgbClr val="E3EFEB"/>
          </a:solidFill>
          <a:ln w="12700">
            <a:solidFill>
              <a:srgbClr val="E3E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37744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TRIAL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40880" y="2971800"/>
            <a:ext cx="4114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66076" y="3255264"/>
            <a:ext cx="384048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6076" y="32552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29216" y="3136392"/>
            <a:ext cx="384048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9216" y="3136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346436" y="4087368"/>
            <a:ext cx="384048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46436" y="40873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00516" y="4562856"/>
            <a:ext cx="384048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0516" y="4562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83296" y="3849624"/>
            <a:ext cx="384048" cy="384048"/>
          </a:xfrm>
          <a:prstGeom prst="rect">
            <a:avLst/>
          </a:prstGeom>
          <a:solidFill>
            <a:srgbClr val="EFECE5"/>
          </a:solidFill>
          <a:ln w="6350">
            <a:solidFill>
              <a:srgbClr val="B4B2A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11996" y="3730752"/>
            <a:ext cx="384048" cy="384048"/>
          </a:xfrm>
          <a:prstGeom prst="rect">
            <a:avLst/>
          </a:prstGeom>
          <a:solidFill>
            <a:srgbClr val="EFECE5"/>
          </a:solidFill>
          <a:ln w="6350">
            <a:solidFill>
              <a:srgbClr val="B4B2A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71816" y="4562856"/>
            <a:ext cx="384048" cy="384048"/>
          </a:xfrm>
          <a:prstGeom prst="rect">
            <a:avLst/>
          </a:prstGeom>
          <a:solidFill>
            <a:srgbClr val="EFECE5"/>
          </a:solidFill>
          <a:ln w="6350">
            <a:solidFill>
              <a:srgbClr val="B4B2A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34956" y="4681728"/>
            <a:ext cx="384048" cy="384048"/>
          </a:xfrm>
          <a:prstGeom prst="rect">
            <a:avLst/>
          </a:prstGeom>
          <a:solidFill>
            <a:srgbClr val="EFECE5"/>
          </a:solidFill>
          <a:ln w="6350">
            <a:solidFill>
              <a:srgbClr val="B4B2A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52176" y="3493008"/>
            <a:ext cx="384048" cy="384048"/>
          </a:xfrm>
          <a:prstGeom prst="rect">
            <a:avLst/>
          </a:prstGeom>
          <a:solidFill>
            <a:srgbClr val="EFECE5"/>
          </a:solidFill>
          <a:ln w="6350">
            <a:solidFill>
              <a:srgbClr val="B4B2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54864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span-4 sequence: tap 1 → 2 → 3 →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57607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Irregular layout prevents verbal chunking by row/column.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Working Memory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A75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3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N-Back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Kirchner (1958); Jaeggi et al. (2008).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A75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PARTICIPANT DOES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56692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Letters appear one at a time. The participant presses spacebar when the current letter matches the one shown N steps back. We use 1-back (easy) and 2-back (hard). About 30% of trials are targets; the rest are non-targets.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5020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A75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MEASURES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4242816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memory updating — the central executive's ability to maintain and refresh a moving window of information.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24865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A75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 DV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5541264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d′ (signal detection: hits vs. false alarms), accuracy, mean RT.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194560"/>
            <a:ext cx="4846320" cy="3931920"/>
          </a:xfrm>
          <a:prstGeom prst="rect">
            <a:avLst/>
          </a:prstGeom>
          <a:solidFill>
            <a:srgbClr val="F5ECDB"/>
          </a:solidFill>
          <a:ln w="12700">
            <a:solidFill>
              <a:srgbClr val="F5EC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37744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A75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TRIAL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760" y="347472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34747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001000" y="347472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34747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778240" y="3474720"/>
            <a:ext cx="640080" cy="6400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34747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595360" y="416052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BA75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55480" y="347472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34747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0332720" y="347472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0" y="34747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49440" y="45720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compare with letter 2 positions ago 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49377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ms stimulus · 2000 ms ISI · ~30% targets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52578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Press SPACEBAR on every match.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Working Memory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4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1F1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Stroop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Stroop (1935); MacLeod (1991) for the meta-analytic review.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PARTICIPANT DOES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56692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Color words (RED, BLUE, GREEN, YELLOW) appear in colored ink. The participant identifies the INK COLOR, not the word, as fast as possible. Congruent trials (word = ink) are easy. Incongruent trials (word ≠ ink) require suppressing the automatic urge to read.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5020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MEASURES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4242816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Inhibitory control — the ability to override a prepotent verbal response in favor of a less automatic visual one.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24865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 DV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5541264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Stroop interference = mean RT (incongruent) − mean RT (congruent).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194560"/>
            <a:ext cx="4846320" cy="3931920"/>
          </a:xfrm>
          <a:prstGeom prst="rect">
            <a:avLst/>
          </a:prstGeom>
          <a:solidFill>
            <a:srgbClr val="F4E5E1"/>
          </a:solidFill>
          <a:ln w="12700">
            <a:solidFill>
              <a:srgbClr val="F4E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37744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TRIAL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315468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CONGRUENT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98280" y="315468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INCONGRUENT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352044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C8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520440"/>
            <a:ext cx="1965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40880" y="45262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ink: blue · word: BLUE → fast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9720" y="352044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3520440"/>
            <a:ext cx="1965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6D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189720" y="45262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ink: green · word: RED → slower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51663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Keys: R · B · G · Y for the four ink colors.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54864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Interference = how much the irrelevant word slows you down.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Working Memory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1F1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Design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every participant goes through, in order.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064240" y="594360"/>
            <a:ext cx="201168" cy="2011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594360"/>
            <a:ext cx="201168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94360"/>
            <a:ext cx="201168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0" y="594360"/>
            <a:ext cx="201168" cy="2011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" y="1783080"/>
            <a:ext cx="1417320" cy="77724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" y="18928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" y="22219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Plain-language brief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61972" y="2171700"/>
            <a:ext cx="128016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08276" y="1783080"/>
            <a:ext cx="1417320" cy="77724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08276" y="18928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08276" y="22219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Age, language, sleep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43884" y="2171700"/>
            <a:ext cx="128016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0188" y="1783080"/>
            <a:ext cx="1417320" cy="77724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0188" y="18928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0188" y="22219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Counterbalanced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25796" y="2171700"/>
            <a:ext cx="128016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72100" y="1783080"/>
            <a:ext cx="1417320" cy="777240"/>
          </a:xfrm>
          <a:prstGeom prst="rect">
            <a:avLst/>
          </a:prstGeom>
          <a:solidFill>
            <a:srgbClr val="E3EFEB"/>
          </a:solidFill>
          <a:ln w="12700">
            <a:solidFill>
              <a:srgbClr val="E3E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2100" y="18928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2100" y="22219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break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07708" y="2171700"/>
            <a:ext cx="128016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54012" y="1783080"/>
            <a:ext cx="1417320" cy="777240"/>
          </a:xfrm>
          <a:prstGeom prst="rect">
            <a:avLst/>
          </a:prstGeom>
          <a:solidFill>
            <a:srgbClr val="F5ECDB"/>
          </a:solidFill>
          <a:ln w="12700">
            <a:solidFill>
              <a:srgbClr val="F5EC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4012" y="18928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54012" y="22219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break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389620" y="2171700"/>
            <a:ext cx="128016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35924" y="1783080"/>
            <a:ext cx="1417320" cy="777240"/>
          </a:xfrm>
          <a:prstGeom prst="rect">
            <a:avLst/>
          </a:prstGeom>
          <a:solidFill>
            <a:srgbClr val="F4E5E1"/>
          </a:solidFill>
          <a:ln w="12700">
            <a:solidFill>
              <a:srgbClr val="F4E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35924" y="18928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35924" y="22219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break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971532" y="2171700"/>
            <a:ext cx="128016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17836" y="1783080"/>
            <a:ext cx="1417320" cy="77724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17836" y="18928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117836" y="22219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CSV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3108960"/>
            <a:ext cx="54864" cy="2651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2461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A2B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Counterbalancing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22960" y="3794760"/>
            <a:ext cx="274320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order is set by a Latin square, seeded by participant ID. Each of the four task orders gets roughly equal participants, controlling for fatigue and practice effects.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17720" y="3108960"/>
            <a:ext cx="54864" cy="26517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2461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A751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RT integrity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800600" y="3794760"/>
            <a:ext cx="274320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 + keyboard required for Stroop and N-back. On-screen taps add ~150 ms of noise — enough to swallow the Stroop effect entirely.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95360" y="3108960"/>
            <a:ext cx="54864" cy="26517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32461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F6E5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Practice + breaks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778240" y="3794760"/>
            <a:ext cx="274320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task starts with practice trials that don't count. Between tasks, a self-paced break screen — participants resume when ready.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Working Memory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1F1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the data looks like.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row per trial. Task column distinguishes them. Same schema across all four.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064240" y="594360"/>
            <a:ext cx="201168" cy="2011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594360"/>
            <a:ext cx="201168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94360"/>
            <a:ext cx="201168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0" y="594360"/>
            <a:ext cx="201168" cy="2011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1371600" cy="36576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830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participant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783080"/>
            <a:ext cx="1645920" cy="36576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7830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783080"/>
            <a:ext cx="822960" cy="36576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783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783080"/>
            <a:ext cx="2011680" cy="36576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783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stimulus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1783080"/>
            <a:ext cx="2011680" cy="36576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783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03920" y="1783080"/>
            <a:ext cx="914400" cy="36576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17830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correct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18320" y="1783080"/>
            <a:ext cx="1188720" cy="36576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1783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rt_ms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148840"/>
            <a:ext cx="9966960" cy="292608"/>
          </a:xfrm>
          <a:prstGeom prst="rect">
            <a:avLst/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14884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P_001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214884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digit_span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49040" y="214884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21488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4-9-2-7-5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0" y="21488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4-9-2-7-5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95360" y="2148840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0" y="214884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24414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P_001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03120" y="244144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corsi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244144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24414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[2,5,7]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24414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[2,5,7]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95360" y="2441448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09760" y="244144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2734056"/>
            <a:ext cx="9966960" cy="292608"/>
          </a:xfrm>
          <a:prstGeom prst="rect">
            <a:avLst/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273405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P_001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03120" y="27340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A75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nback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49040" y="273405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273405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 (2-back: K)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83680" y="273405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spacebar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95360" y="2734056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509760" y="2734056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612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" y="302666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P_001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03120" y="302666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A751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nback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749040" y="302666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0" y="302666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 (2-back: R)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83680" y="302666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95360" y="3026664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509760" y="3026664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0080" y="3319272"/>
            <a:ext cx="9966960" cy="292608"/>
          </a:xfrm>
          <a:prstGeom prst="rect">
            <a:avLst/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3319272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P_001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03120" y="331927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stroop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749040" y="331927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0" y="331927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 in green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83680" y="331927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595360" y="3319272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509760" y="3319272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874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31520" y="361188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P_001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103120" y="361188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stroop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749040" y="36118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572000" y="36118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BLUE in blue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83680" y="36118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595360" y="3611880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509760" y="361188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1F1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541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0080" y="39959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rows from a single session (truncated for clarity).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40080" y="475488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YOU CAN DO WITH IT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40080" y="512064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Individual profile:</a:t>
            </a:r>
            <a:r>
              <a:rPr lang="en-US" sz="13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where this participant sits on the four components.   </a:t>
            </a:r>
            <a:r>
              <a:rPr lang="en-US" sz="13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Within-task contrasts:</a:t>
            </a:r>
            <a:r>
              <a:rPr lang="en-US" sz="13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digit forward vs backward, Stroop congruent vs incongruent.   </a:t>
            </a:r>
            <a:r>
              <a:rPr lang="en-US" sz="1300" b="1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Between-task correlations:</a:t>
            </a:r>
            <a:r>
              <a:rPr lang="en-US" sz="13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do the four DVs cluster the way the theory predicts?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Working Memory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1F1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Honest scope.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project is — and what it isn't.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064240" y="594360"/>
            <a:ext cx="201168" cy="2011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594360"/>
            <a:ext cx="201168" cy="2011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94360"/>
            <a:ext cx="201168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0" y="594360"/>
            <a:ext cx="201168" cy="2011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54864" cy="4114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521208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Single-session, no test-retest reliability data.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locally collected norms — score interpretation relies on published reference values.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Browser-based RT has hardware noise even on desktop — fine for within-subject contrasts, weaker for cross-participant comparisons.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Convenience sample only. Demographic covariates are recorded but the n is small.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4864" cy="4114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83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POSSIBLE EXTENSIONS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521208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Auditory digit span — separates phonological storage from visual reading.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Flanker task — a second inhibitory-control measure to cross-validate Stroop.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Group-level analysis: do the four DVs load onto the latent factors the theory predicts?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1F1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Manipulation: caffeine, sleep loss, or time-of-day as a between-subject factor.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Working 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3320" y="2103120"/>
            <a:ext cx="914400" cy="914400"/>
          </a:xfrm>
          <a:prstGeom prst="rect">
            <a:avLst/>
          </a:prstGeom>
          <a:solidFill>
            <a:srgbClr val="2A3E66"/>
          </a:solidFill>
          <a:ln w="12700">
            <a:solidFill>
              <a:srgbClr val="2A3E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2103120"/>
            <a:ext cx="914400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2103120"/>
            <a:ext cx="914400" cy="9144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2103120"/>
            <a:ext cx="9144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5661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F5F1E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Four tasks. Four components. One session.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BF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Thanks — questions welcome.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6740</Words>
  <Application>WPS Presentation</Application>
  <PresentationFormat>On-screen Show (16:9)</PresentationFormat>
  <Paragraphs>443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 Working Memory</dc:title>
  <dc:creator>Cognitive Battery Project</dc:creator>
  <dc:subject>PptxGenJS Presentation</dc:subject>
  <cp:lastModifiedBy>Bemnet</cp:lastModifiedBy>
  <cp:revision>2</cp:revision>
  <dcterms:created xsi:type="dcterms:W3CDTF">2026-05-23T02:59:00Z</dcterms:created>
  <dcterms:modified xsi:type="dcterms:W3CDTF">2026-05-23T05:00:39Z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AE06997552D74430923D3203584CF3EC_12</vt:lpwstr>
  </property>
</Properties>
</file>